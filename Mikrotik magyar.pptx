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A4F1DB-D2DF-4CD3-A1C1-379AF709C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755" y="99419"/>
            <a:ext cx="8825658" cy="3329581"/>
          </a:xfrm>
        </p:spPr>
        <p:txBody>
          <a:bodyPr/>
          <a:lstStyle/>
          <a:p>
            <a:pPr algn="ctr"/>
            <a:r>
              <a:rPr lang="hu-HU" dirty="0" err="1"/>
              <a:t>Mikrotik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FFD3251-072A-4069-93F3-CB7C16909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755" y="3429000"/>
            <a:ext cx="8825658" cy="861420"/>
          </a:xfrm>
        </p:spPr>
        <p:txBody>
          <a:bodyPr/>
          <a:lstStyle/>
          <a:p>
            <a:pPr algn="ctr"/>
            <a:r>
              <a:rPr lang="hu-HU" dirty="0"/>
              <a:t>KÉSZÍTETTE: MEDVE MARCELL</a:t>
            </a:r>
          </a:p>
        </p:txBody>
      </p:sp>
    </p:spTree>
    <p:extLst>
      <p:ext uri="{BB962C8B-B14F-4D97-AF65-F5344CB8AC3E}">
        <p14:creationId xmlns:p14="http://schemas.microsoft.com/office/powerpoint/2010/main" val="932150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4EAA54-DA2D-46AF-9F49-DF0052D24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Bevezetés a </a:t>
            </a:r>
            <a:r>
              <a:rPr lang="hu-HU" b="1" dirty="0" err="1"/>
              <a:t>MikroTik</a:t>
            </a:r>
            <a:r>
              <a:rPr lang="hu-HU" b="1" dirty="0"/>
              <a:t>-be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A172CF-6F9A-40D6-BBE8-325AD1C94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Mi a </a:t>
            </a:r>
            <a:r>
              <a:rPr lang="hu-HU" b="1" dirty="0" err="1"/>
              <a:t>Mikrotik</a:t>
            </a:r>
            <a:r>
              <a:rPr lang="hu-HU" b="1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/>
              <a:t>Lettországi székhelyű cég, amelyet 1996-ban alapítottak.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/>
              <a:t>Hálózati hardver és szoftvergyártó (routerek, </a:t>
            </a:r>
            <a:r>
              <a:rPr lang="hu-HU" dirty="0" err="1"/>
              <a:t>switchek</a:t>
            </a:r>
            <a:r>
              <a:rPr lang="hu-HU" dirty="0"/>
              <a:t>, vezeték nélküli eszközök).</a:t>
            </a:r>
          </a:p>
          <a:p>
            <a:r>
              <a:rPr lang="hu-HU" b="1" dirty="0"/>
              <a:t>A kulcs: </a:t>
            </a:r>
            <a:r>
              <a:rPr lang="hu-HU" b="1" dirty="0" err="1"/>
              <a:t>RouterOS</a:t>
            </a:r>
            <a:endParaRPr lang="hu-HU" b="1" dirty="0"/>
          </a:p>
          <a:p>
            <a:pPr marL="457200" indent="-457200">
              <a:buFont typeface="+mj-lt"/>
              <a:buAutoNum type="arabicPeriod"/>
            </a:pPr>
            <a:r>
              <a:rPr lang="hu-HU" dirty="0"/>
              <a:t>A </a:t>
            </a:r>
            <a:r>
              <a:rPr lang="hu-HU" dirty="0" err="1"/>
              <a:t>MikroTik</a:t>
            </a:r>
            <a:r>
              <a:rPr lang="hu-HU" dirty="0"/>
              <a:t> </a:t>
            </a:r>
            <a:r>
              <a:rPr lang="hu-HU" dirty="0" err="1"/>
              <a:t>ezsközein</a:t>
            </a:r>
            <a:r>
              <a:rPr lang="hu-HU" dirty="0"/>
              <a:t> futó operációs rendszer.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/>
              <a:t>Rendkívül sokoldalú, professzionális szintű hálózati funkciókat kínál.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/>
              <a:t>Két fő interfész: </a:t>
            </a:r>
            <a:r>
              <a:rPr lang="hu-HU" dirty="0" err="1"/>
              <a:t>WinBox</a:t>
            </a:r>
            <a:r>
              <a:rPr lang="hu-HU" dirty="0"/>
              <a:t> (grafikus felület) és parancssor (CLI).</a:t>
            </a:r>
          </a:p>
          <a:p>
            <a:pPr marL="457200" indent="-457200">
              <a:buFont typeface="+mj-lt"/>
              <a:buAutoNum type="arabicPeriod"/>
            </a:pPr>
            <a:endParaRPr lang="hu-HU" b="1" dirty="0"/>
          </a:p>
          <a:p>
            <a:pPr marL="457200" indent="-457200">
              <a:buFont typeface="+mj-lt"/>
              <a:buAutoNum type="arabicPeriod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98618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A96F2B-D0D3-4527-B0C8-2BBA0070D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2. </a:t>
            </a:r>
            <a:r>
              <a:rPr lang="hu-HU" b="1" dirty="0" err="1"/>
              <a:t>RouterOS</a:t>
            </a:r>
            <a:r>
              <a:rPr lang="hu-HU" b="1" dirty="0"/>
              <a:t> Fő Jellemzői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FBB233-BD5D-45EA-8CA8-71021BE53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853248"/>
            <a:ext cx="9237053" cy="4395151"/>
          </a:xfrm>
        </p:spPr>
        <p:txBody>
          <a:bodyPr>
            <a:normAutofit fontScale="92500" lnSpcReduction="10000"/>
          </a:bodyPr>
          <a:lstStyle/>
          <a:p>
            <a:r>
              <a:rPr lang="hu-HU" sz="1600" dirty="0"/>
              <a:t>​A </a:t>
            </a:r>
            <a:r>
              <a:rPr lang="hu-HU" sz="1600" dirty="0" err="1"/>
              <a:t>RouterOS</a:t>
            </a:r>
            <a:r>
              <a:rPr lang="hu-HU" sz="1600" dirty="0"/>
              <a:t> egy teljes értékű hálózati operációs rendszer, amely számos funkciót tartalmaz:</a:t>
            </a:r>
          </a:p>
          <a:p>
            <a:r>
              <a:rPr lang="hu-HU" sz="1600" dirty="0"/>
              <a:t>​</a:t>
            </a:r>
            <a:r>
              <a:rPr lang="hu-HU" sz="1600" dirty="0" err="1"/>
              <a:t>Routing</a:t>
            </a:r>
            <a:r>
              <a:rPr lang="hu-HU" sz="1600" dirty="0"/>
              <a:t> (Útválasztás):</a:t>
            </a:r>
          </a:p>
          <a:p>
            <a:r>
              <a:rPr lang="hu-HU" sz="1600" dirty="0"/>
              <a:t>​Statikus útválasztás.</a:t>
            </a:r>
          </a:p>
          <a:p>
            <a:r>
              <a:rPr lang="hu-HU" sz="1600" dirty="0"/>
              <a:t>​Dinamikus </a:t>
            </a:r>
            <a:r>
              <a:rPr lang="hu-HU" sz="1600" dirty="0" err="1"/>
              <a:t>routing</a:t>
            </a:r>
            <a:r>
              <a:rPr lang="hu-HU" sz="1600" dirty="0"/>
              <a:t> protokollok támogatása (pl. OSPF, BGP, RIP).</a:t>
            </a:r>
          </a:p>
          <a:p>
            <a:r>
              <a:rPr lang="hu-HU" sz="1600" dirty="0"/>
              <a:t>​</a:t>
            </a:r>
            <a:r>
              <a:rPr lang="hu-HU" sz="1600" b="1" dirty="0" err="1"/>
              <a:t>Firewall</a:t>
            </a:r>
            <a:r>
              <a:rPr lang="hu-HU" sz="1600" b="1" dirty="0"/>
              <a:t> (Tűzfal):</a:t>
            </a:r>
          </a:p>
          <a:p>
            <a:r>
              <a:rPr lang="hu-HU" sz="1600" dirty="0"/>
              <a:t>​Rugalmas, </a:t>
            </a:r>
            <a:r>
              <a:rPr lang="hu-HU" sz="1600" dirty="0" err="1"/>
              <a:t>stateful</a:t>
            </a:r>
            <a:r>
              <a:rPr lang="hu-HU" sz="1600" dirty="0"/>
              <a:t> tűzfal szabályrendszer.</a:t>
            </a:r>
          </a:p>
          <a:p>
            <a:r>
              <a:rPr lang="hu-HU" sz="1600" dirty="0"/>
              <a:t>​NAT (Network </a:t>
            </a:r>
            <a:r>
              <a:rPr lang="hu-HU" sz="1600" dirty="0" err="1"/>
              <a:t>Address</a:t>
            </a:r>
            <a:r>
              <a:rPr lang="hu-HU" sz="1600" dirty="0"/>
              <a:t> </a:t>
            </a:r>
            <a:r>
              <a:rPr lang="hu-HU" sz="1600" dirty="0" err="1"/>
              <a:t>Translation</a:t>
            </a:r>
            <a:r>
              <a:rPr lang="hu-HU" sz="1600" dirty="0"/>
              <a:t>) beállítások (</a:t>
            </a:r>
            <a:r>
              <a:rPr lang="hu-HU" sz="1600" dirty="0" err="1"/>
              <a:t>Masquerade</a:t>
            </a:r>
            <a:r>
              <a:rPr lang="hu-HU" sz="1600" dirty="0"/>
              <a:t>, DST-NAT).</a:t>
            </a:r>
          </a:p>
          <a:p>
            <a:r>
              <a:rPr lang="hu-HU" sz="1600" dirty="0"/>
              <a:t>​</a:t>
            </a:r>
            <a:r>
              <a:rPr lang="hu-HU" sz="1600" dirty="0" err="1"/>
              <a:t>Wireless</a:t>
            </a:r>
            <a:r>
              <a:rPr lang="hu-HU" sz="1600" dirty="0"/>
              <a:t> (Vezeték nélküli hálózatok):</a:t>
            </a:r>
          </a:p>
          <a:p>
            <a:r>
              <a:rPr lang="hu-HU" sz="1600" dirty="0"/>
              <a:t>​Speciális vezeték nélküli protokollok (pl. </a:t>
            </a:r>
            <a:r>
              <a:rPr lang="hu-HU" sz="1600" dirty="0" err="1"/>
              <a:t>Nstreme</a:t>
            </a:r>
            <a:r>
              <a:rPr lang="hu-HU" sz="1600" dirty="0"/>
              <a:t>, NV2) a nagy távolságú linkekhez.</a:t>
            </a:r>
          </a:p>
          <a:p>
            <a:r>
              <a:rPr lang="hu-HU" sz="1600" dirty="0"/>
              <a:t>​</a:t>
            </a:r>
            <a:r>
              <a:rPr lang="hu-HU" sz="1600" dirty="0" err="1"/>
              <a:t>CAPsMAN</a:t>
            </a:r>
            <a:r>
              <a:rPr lang="hu-HU" sz="1600" dirty="0"/>
              <a:t> (</a:t>
            </a:r>
            <a:r>
              <a:rPr lang="hu-HU" sz="1600" dirty="0" err="1"/>
              <a:t>Centralized</a:t>
            </a:r>
            <a:r>
              <a:rPr lang="hu-HU" sz="1600" dirty="0"/>
              <a:t> Access </a:t>
            </a:r>
            <a:r>
              <a:rPr lang="hu-HU" sz="1600" dirty="0" err="1"/>
              <a:t>Point</a:t>
            </a:r>
            <a:r>
              <a:rPr lang="hu-HU" sz="1600" dirty="0"/>
              <a:t> management) a nagyméretű </a:t>
            </a:r>
            <a:r>
              <a:rPr lang="hu-HU" sz="1600" dirty="0" err="1"/>
              <a:t>Wi</a:t>
            </a:r>
            <a:r>
              <a:rPr lang="hu-HU" sz="1600" dirty="0"/>
              <a:t>-Fi hálózatok központi kezelésére.</a:t>
            </a:r>
          </a:p>
          <a:p>
            <a:r>
              <a:rPr lang="hu-HU" sz="1600" dirty="0"/>
              <a:t>​</a:t>
            </a:r>
            <a:r>
              <a:rPr lang="hu-HU" sz="1600" dirty="0" err="1"/>
              <a:t>QoS</a:t>
            </a:r>
            <a:r>
              <a:rPr lang="hu-HU" sz="1600" dirty="0"/>
              <a:t> (Szolgáltatásminőség) és </a:t>
            </a:r>
            <a:r>
              <a:rPr lang="hu-HU" sz="1600" dirty="0" err="1"/>
              <a:t>Bandwidth</a:t>
            </a:r>
            <a:r>
              <a:rPr lang="hu-HU" sz="1600" dirty="0"/>
              <a:t> Management:</a:t>
            </a:r>
          </a:p>
          <a:p>
            <a:r>
              <a:rPr lang="hu-HU" sz="1600" dirty="0"/>
              <a:t>​Egyszerű és komplex sávszélesség-korlátozás (</a:t>
            </a:r>
            <a:r>
              <a:rPr lang="hu-HU" sz="1600" dirty="0" err="1"/>
              <a:t>Simple</a:t>
            </a:r>
            <a:r>
              <a:rPr lang="hu-HU" sz="1600" dirty="0"/>
              <a:t> </a:t>
            </a:r>
            <a:r>
              <a:rPr lang="hu-HU" sz="1600" dirty="0" err="1"/>
              <a:t>Queues</a:t>
            </a:r>
            <a:r>
              <a:rPr lang="hu-HU" sz="1600" dirty="0"/>
              <a:t> és </a:t>
            </a:r>
            <a:r>
              <a:rPr lang="hu-HU" sz="1600" dirty="0" err="1"/>
              <a:t>Queue</a:t>
            </a:r>
            <a:r>
              <a:rPr lang="hu-HU" sz="1600" dirty="0"/>
              <a:t> </a:t>
            </a:r>
            <a:r>
              <a:rPr lang="hu-HU" sz="1600" dirty="0" err="1"/>
              <a:t>Tree</a:t>
            </a:r>
            <a:r>
              <a:rPr lang="hu-HU" sz="1600" dirty="0"/>
              <a:t>).</a:t>
            </a:r>
          </a:p>
          <a:p>
            <a:endParaRPr lang="hu-HU" sz="1600" dirty="0"/>
          </a:p>
        </p:txBody>
      </p:sp>
    </p:spTree>
    <p:extLst>
      <p:ext uri="{BB962C8B-B14F-4D97-AF65-F5344CB8AC3E}">
        <p14:creationId xmlns:p14="http://schemas.microsoft.com/office/powerpoint/2010/main" val="4018161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EAE023-D7E1-4393-8E7A-4FECB21FA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3. Eszközök és Hardverek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EDDDBA-D329-4CBB-B905-C3DA7AD40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​</a:t>
            </a:r>
            <a:r>
              <a:rPr lang="hu-HU" b="1" dirty="0"/>
              <a:t>A </a:t>
            </a:r>
            <a:r>
              <a:rPr lang="hu-HU" b="1" dirty="0" err="1"/>
              <a:t>RouterOS</a:t>
            </a:r>
            <a:r>
              <a:rPr lang="hu-HU" b="1" dirty="0"/>
              <a:t> a </a:t>
            </a:r>
            <a:r>
              <a:rPr lang="hu-HU" b="1" dirty="0" err="1"/>
              <a:t>RouterBOARD</a:t>
            </a:r>
            <a:r>
              <a:rPr lang="hu-HU" b="1" dirty="0"/>
              <a:t> hardvereken fut:</a:t>
            </a:r>
          </a:p>
          <a:p>
            <a:r>
              <a:rPr lang="hu-HU" dirty="0"/>
              <a:t>​Routerek és SOHO eszközök:</a:t>
            </a:r>
          </a:p>
          <a:p>
            <a:r>
              <a:rPr lang="hu-HU" dirty="0"/>
              <a:t>​Kisebb, otthoni vagy kisvállalati felhasználásra (pl. </a:t>
            </a:r>
            <a:r>
              <a:rPr lang="hu-HU" dirty="0" err="1"/>
              <a:t>hAP</a:t>
            </a:r>
            <a:r>
              <a:rPr lang="hu-HU" dirty="0"/>
              <a:t>, RB750Gr3).</a:t>
            </a:r>
          </a:p>
          <a:p>
            <a:r>
              <a:rPr lang="hu-HU" dirty="0"/>
              <a:t>​Nagy teljesítményű routerek/</a:t>
            </a:r>
            <a:r>
              <a:rPr lang="hu-HU" dirty="0" err="1"/>
              <a:t>switchek</a:t>
            </a:r>
            <a:r>
              <a:rPr lang="hu-HU" dirty="0"/>
              <a:t>:</a:t>
            </a:r>
          </a:p>
          <a:p>
            <a:r>
              <a:rPr lang="hu-HU" dirty="0"/>
              <a:t>​Nagyobb vállalati vagy ISP (Internetszolgáltatói) igényekre (pl. CCR sorozat).</a:t>
            </a:r>
          </a:p>
          <a:p>
            <a:r>
              <a:rPr lang="hu-HU" dirty="0"/>
              <a:t>​Vezeték nélküli eszközök:</a:t>
            </a:r>
          </a:p>
          <a:p>
            <a:r>
              <a:rPr lang="hu-HU" dirty="0"/>
              <a:t>​Beltéri és kültéri Access </a:t>
            </a:r>
            <a:r>
              <a:rPr lang="hu-HU" dirty="0" err="1"/>
              <a:t>Pointok</a:t>
            </a:r>
            <a:r>
              <a:rPr lang="hu-HU" dirty="0"/>
              <a:t> (pl. </a:t>
            </a:r>
            <a:r>
              <a:rPr lang="hu-HU" dirty="0" err="1"/>
              <a:t>cAP</a:t>
            </a:r>
            <a:r>
              <a:rPr lang="hu-HU" dirty="0"/>
              <a:t>, SXT, LHG).</a:t>
            </a:r>
          </a:p>
          <a:p>
            <a:r>
              <a:rPr lang="hu-HU" b="1" dirty="0"/>
              <a:t>​</a:t>
            </a:r>
            <a:r>
              <a:rPr lang="hu-HU" b="1" dirty="0" err="1"/>
              <a:t>Switchek</a:t>
            </a:r>
            <a:r>
              <a:rPr lang="hu-HU" b="1" dirty="0"/>
              <a:t>:</a:t>
            </a:r>
          </a:p>
          <a:p>
            <a:r>
              <a:rPr lang="hu-HU" dirty="0"/>
              <a:t>​Fejlett </a:t>
            </a:r>
            <a:r>
              <a:rPr lang="hu-HU" dirty="0" err="1"/>
              <a:t>layer</a:t>
            </a:r>
            <a:r>
              <a:rPr lang="hu-HU" dirty="0"/>
              <a:t> 2 funkciókkal (pl. CRS sorozat).</a:t>
            </a:r>
          </a:p>
        </p:txBody>
      </p:sp>
    </p:spTree>
    <p:extLst>
      <p:ext uri="{BB962C8B-B14F-4D97-AF65-F5344CB8AC3E}">
        <p14:creationId xmlns:p14="http://schemas.microsoft.com/office/powerpoint/2010/main" val="1468170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AD2F47-EC1A-40AE-A4D6-DE074FE6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4. Alkalmazási Területek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C59F10E-2529-457E-9F1A-3809B24D4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​A </a:t>
            </a:r>
            <a:r>
              <a:rPr lang="hu-HU" dirty="0" err="1"/>
              <a:t>MikroTik</a:t>
            </a:r>
            <a:r>
              <a:rPr lang="hu-HU" dirty="0"/>
              <a:t> rendkívül széles körben alkalmazható, a rugalmasságának köszönhetően:</a:t>
            </a:r>
          </a:p>
          <a:p>
            <a:r>
              <a:rPr lang="hu-HU" dirty="0"/>
              <a:t>​ISP-k és WISP-k (Vezeték Nélküli ISP-k): Gerinchálózati és ügyféloldali eszközök.</a:t>
            </a:r>
          </a:p>
          <a:p>
            <a:r>
              <a:rPr lang="hu-HU" dirty="0"/>
              <a:t>​Vállalati hálózatok: Tűzfal, VPN bejárat, sávszélesség menedzsment.</a:t>
            </a:r>
          </a:p>
          <a:p>
            <a:r>
              <a:rPr lang="hu-HU" dirty="0"/>
              <a:t>​Kisméretű hálózatok és otthoni felhasználás: Fejlett router funkciók otthonra.</a:t>
            </a:r>
          </a:p>
          <a:p>
            <a:r>
              <a:rPr lang="hu-HU" dirty="0"/>
              <a:t>​Hálózati laborok: Olcsó és sokoldalú eszközök teszteléshez, tanuláshoz.</a:t>
            </a:r>
          </a:p>
        </p:txBody>
      </p:sp>
    </p:spTree>
    <p:extLst>
      <p:ext uri="{BB962C8B-B14F-4D97-AF65-F5344CB8AC3E}">
        <p14:creationId xmlns:p14="http://schemas.microsoft.com/office/powerpoint/2010/main" val="53340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C2D6FF7-FF43-4793-9874-BCF99FB1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220" y="287618"/>
            <a:ext cx="9404723" cy="1400530"/>
          </a:xfrm>
        </p:spPr>
        <p:txBody>
          <a:bodyPr/>
          <a:lstStyle/>
          <a:p>
            <a:pPr algn="ctr"/>
            <a:r>
              <a:rPr lang="hu-HU" b="1" dirty="0"/>
              <a:t>5. Összegzés és Előnyök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0A6D61-BBD9-4B79-870D-52604B493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u-HU" dirty="0"/>
          </a:p>
          <a:p>
            <a:r>
              <a:rPr lang="hu-HU" b="1" dirty="0"/>
              <a:t>​Előnyök:</a:t>
            </a:r>
          </a:p>
          <a:p>
            <a:r>
              <a:rPr lang="hu-HU" dirty="0"/>
              <a:t>​Rugalmasság és sokoldalúság: Egyetlen operációs rendszer sokféle feladatra.</a:t>
            </a:r>
          </a:p>
          <a:p>
            <a:r>
              <a:rPr lang="hu-HU" dirty="0"/>
              <a:t>​Költséghatékonyság: Kiváló ár/érték arány a tudásához képest.</a:t>
            </a:r>
          </a:p>
          <a:p>
            <a:r>
              <a:rPr lang="hu-HU" dirty="0"/>
              <a:t>​Közösségi támogatás: Aktív felhasználói bázis és fórumok.</a:t>
            </a:r>
          </a:p>
          <a:p>
            <a:r>
              <a:rPr lang="hu-HU" dirty="0"/>
              <a:t>​Hátrányok (megjegyzés):</a:t>
            </a:r>
          </a:p>
          <a:p>
            <a:r>
              <a:rPr lang="hu-HU" dirty="0"/>
              <a:t>​A konfiguráció kezdetben bonyolultnak tűnhet a kezdők számára</a:t>
            </a:r>
          </a:p>
        </p:txBody>
      </p:sp>
    </p:spTree>
    <p:extLst>
      <p:ext uri="{BB962C8B-B14F-4D97-AF65-F5344CB8AC3E}">
        <p14:creationId xmlns:p14="http://schemas.microsoft.com/office/powerpoint/2010/main" val="1224448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8B2A6B-64DC-415B-81C6-CCE2EE063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711" y="2728735"/>
            <a:ext cx="9404723" cy="1400530"/>
          </a:xfrm>
        </p:spPr>
        <p:txBody>
          <a:bodyPr/>
          <a:lstStyle/>
          <a:p>
            <a:pPr algn="ctr"/>
            <a:r>
              <a:rPr lang="hu-HU" b="1" dirty="0"/>
              <a:t>Vége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66859FF-E4EC-4E9C-B26B-641E93A82D9B}"/>
              </a:ext>
            </a:extLst>
          </p:cNvPr>
          <p:cNvSpPr txBox="1"/>
          <p:nvPr/>
        </p:nvSpPr>
        <p:spPr>
          <a:xfrm>
            <a:off x="152400" y="6210300"/>
            <a:ext cx="392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Forrás: Google </a:t>
            </a:r>
            <a:r>
              <a:rPr lang="hu-HU" sz="2400" b="1" dirty="0" err="1"/>
              <a:t>Gemini</a:t>
            </a:r>
            <a:endParaRPr lang="hu-HU" sz="2400" b="1" dirty="0"/>
          </a:p>
        </p:txBody>
      </p:sp>
    </p:spTree>
    <p:extLst>
      <p:ext uri="{BB962C8B-B14F-4D97-AF65-F5344CB8AC3E}">
        <p14:creationId xmlns:p14="http://schemas.microsoft.com/office/powerpoint/2010/main" val="3733513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410</Words>
  <Application>Microsoft Office PowerPoint</Application>
  <PresentationFormat>Szélesvásznú</PresentationFormat>
  <Paragraphs>49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Mikrotik</vt:lpstr>
      <vt:lpstr>Bevezetés a MikroTik-be</vt:lpstr>
      <vt:lpstr>2. RouterOS Fő Jellemzői</vt:lpstr>
      <vt:lpstr>3. Eszközök és Hardverek </vt:lpstr>
      <vt:lpstr>4. Alkalmazási Területek</vt:lpstr>
      <vt:lpstr>5. Összegzés és Előnyök</vt:lpstr>
      <vt:lpstr>Vége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Mikrotik</dc:title>
  <dc:creator>Medve Marcell</dc:creator>
  <cp:lastModifiedBy>Medve Marcell</cp:lastModifiedBy>
  <cp:revision>2</cp:revision>
  <dcterms:created xsi:type="dcterms:W3CDTF">2025-11-25T07:56:48Z</dcterms:created>
  <dcterms:modified xsi:type="dcterms:W3CDTF">2025-11-25T08:13:36Z</dcterms:modified>
</cp:coreProperties>
</file>